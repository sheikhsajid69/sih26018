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2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" y="3312191"/>
            <a:ext cx="49834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600" b="1" dirty="0">
                <a:solidFill>
                  <a:srgbClr val="000000"/>
                </a:solidFill>
                <a:latin typeface="Arial"/>
              </a:rPr>
              <a:t>Problem Statement ID – </a:t>
            </a:r>
            <a:r>
              <a:rPr lang="en-US" sz="1600" dirty="0">
                <a:solidFill>
                  <a:srgbClr val="000000"/>
                </a:solidFill>
                <a:latin typeface="Arial"/>
              </a:rPr>
              <a:t>SIH26018</a:t>
            </a:r>
            <a:endParaRPr sz="1600" dirty="0">
              <a:solidFill>
                <a:srgbClr val="000000"/>
              </a:solidFill>
              <a:latin typeface="Arial"/>
            </a:endParaRPr>
          </a:p>
          <a:p>
            <a:r>
              <a:rPr sz="1600" b="1" dirty="0">
                <a:solidFill>
                  <a:srgbClr val="000000"/>
                </a:solidFill>
                <a:latin typeface="Arial"/>
              </a:rPr>
              <a:t>Problem Statement Title- </a:t>
            </a:r>
            <a:r>
              <a:rPr lang="en-IN" sz="1600" dirty="0"/>
              <a:t>Intelligent Land Record Digitalization &amp; Validation Platform</a:t>
            </a:r>
          </a:p>
          <a:p>
            <a:r>
              <a:rPr sz="1600" b="1" dirty="0">
                <a:solidFill>
                  <a:srgbClr val="000000"/>
                </a:solidFill>
                <a:latin typeface="Arial"/>
              </a:rPr>
              <a:t>Theme- </a:t>
            </a:r>
            <a:r>
              <a:rPr lang="en-US" sz="1600" dirty="0">
                <a:solidFill>
                  <a:srgbClr val="000000"/>
                </a:solidFill>
                <a:latin typeface="Arial"/>
              </a:rPr>
              <a:t>Smart Automation</a:t>
            </a:r>
            <a:endParaRPr sz="1600" dirty="0">
              <a:solidFill>
                <a:srgbClr val="000000"/>
              </a:solidFill>
              <a:latin typeface="Arial"/>
            </a:endParaRPr>
          </a:p>
          <a:p>
            <a:pPr algn="l"/>
            <a:r>
              <a:rPr sz="1600" b="1" dirty="0">
                <a:solidFill>
                  <a:srgbClr val="000000"/>
                </a:solidFill>
                <a:latin typeface="Arial"/>
              </a:rPr>
              <a:t>PS Category- </a:t>
            </a:r>
            <a:r>
              <a:rPr sz="1600" dirty="0">
                <a:solidFill>
                  <a:srgbClr val="000000"/>
                </a:solidFill>
                <a:latin typeface="Arial"/>
              </a:rPr>
              <a:t>Software</a:t>
            </a:r>
          </a:p>
          <a:p>
            <a:pPr algn="l"/>
            <a:r>
              <a:rPr sz="1600" b="1" dirty="0">
                <a:solidFill>
                  <a:srgbClr val="000000"/>
                </a:solidFill>
                <a:latin typeface="Arial"/>
              </a:rPr>
              <a:t>Team ID- </a:t>
            </a:r>
            <a:endParaRPr lang="en-US" sz="1600" b="1" dirty="0">
              <a:solidFill>
                <a:srgbClr val="000000"/>
              </a:solidFill>
              <a:latin typeface="Arial"/>
            </a:endParaRPr>
          </a:p>
          <a:p>
            <a:pPr algn="l"/>
            <a:r>
              <a:rPr sz="1600" b="1" dirty="0">
                <a:solidFill>
                  <a:srgbClr val="000000"/>
                </a:solidFill>
                <a:latin typeface="Arial"/>
              </a:rPr>
              <a:t>Team Name</a:t>
            </a:r>
            <a:r>
              <a:rPr lang="en-US" sz="16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b="1" dirty="0">
                <a:solidFill>
                  <a:srgbClr val="000000"/>
                </a:solidFill>
                <a:latin typeface="Arial"/>
              </a:rPr>
              <a:t>– </a:t>
            </a:r>
            <a:r>
              <a:rPr lang="en-US" sz="1600" dirty="0">
                <a:solidFill>
                  <a:srgbClr val="000000"/>
                </a:solidFill>
                <a:latin typeface="Arial"/>
              </a:rPr>
              <a:t>Team Void</a:t>
            </a:r>
            <a:endParaRPr sz="16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38912" y="182880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7528B"/>
                </a:solidFill>
                <a:latin typeface="Arial"/>
              </a:rPr>
              <a:t>LANDSYNC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2240280"/>
            <a:ext cx="4800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33038"/>
                </a:solidFill>
                <a:latin typeface="Arial"/>
              </a:rPr>
              <a:t>Intelligent Land Record Digitalization &amp; Validation Platform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" y="2755826"/>
            <a:ext cx="4709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F6970"/>
                </a:solidFill>
                <a:latin typeface="Arial"/>
              </a:rPr>
              <a:t>Transforming fragmented physical land documents into intelligent, spatially linked and verifiable digital land records.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11480" y="1901952"/>
            <a:ext cx="10058400" cy="749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100"/>
              </a:spcAft>
              <a:buFont typeface="Wingdings" panose="05000000000000000000" pitchFamily="2" charset="2"/>
              <a:buChar char="v"/>
              <a:defRPr sz="1300" b="1">
                <a:solidFill>
                  <a:srgbClr val="27528B"/>
                </a:solidFill>
                <a:latin typeface="Arial"/>
              </a:defRPr>
            </a:pPr>
            <a: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100"/>
              </a:spcAft>
              <a:defRPr sz="1050" b="0">
                <a:solidFill>
                  <a:srgbClr val="233038"/>
                </a:solidFill>
                <a:latin typeface="Arial"/>
              </a:defRPr>
            </a:pPr>
            <a:r>
              <a:t>Detailed explanation of the proposed solution</a:t>
            </a:r>
          </a:p>
          <a:p>
            <a:pPr>
              <a:spcAft>
                <a:spcPts val="100"/>
              </a:spcAft>
              <a:defRPr sz="1050" b="0">
                <a:solidFill>
                  <a:srgbClr val="233038"/>
                </a:solidFill>
                <a:latin typeface="Arial"/>
              </a:defRPr>
            </a:pPr>
            <a:r>
              <a:t>How it addresses the problem</a:t>
            </a:r>
          </a:p>
          <a:p>
            <a:pPr>
              <a:spcAft>
                <a:spcPts val="100"/>
              </a:spcAft>
              <a:defRPr sz="1050" b="0">
                <a:solidFill>
                  <a:srgbClr val="233038"/>
                </a:solidFill>
                <a:latin typeface="Arial"/>
              </a:defRPr>
            </a:pPr>
            <a:r>
              <a:t>Innovation and uniqueness of the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/>
              <a:t>Void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3246120" y="1042575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27528B"/>
                </a:solidFill>
                <a:latin typeface="Arial"/>
              </a:rPr>
              <a:t>LANDSYNC AI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3063240" y="1417320"/>
            <a:ext cx="5257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33038"/>
                </a:solidFill>
                <a:latin typeface="Arial"/>
              </a:rPr>
              <a:t>AI-powered • GIS-enabled • Secure • Verifiable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502920" y="2852928"/>
            <a:ext cx="3154680" cy="2542032"/>
          </a:xfrm>
          <a:prstGeom prst="roundRect">
            <a:avLst/>
          </a:prstGeom>
          <a:solidFill>
            <a:srgbClr val="F1F6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220" b="1">
                <a:solidFill>
                  <a:srgbClr val="233038"/>
                </a:solidFill>
                <a:latin typeface="Arial"/>
              </a:rPr>
              <a:t>DIGITAL LAND RECORD
• Scan/upload deed, RoR, survey sketch, blueprint
• OCR + document AI extracts owner, survey/plot no., area, location, dates
• Blueprint CV detects boundaries, dimensions and parcel geometry
• Builds a searchable digital land profile + document vault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3730752" y="2852928"/>
            <a:ext cx="3154680" cy="25420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220" b="1" dirty="0">
                <a:solidFill>
                  <a:srgbClr val="233038"/>
                </a:solidFill>
                <a:latin typeface="Arial"/>
              </a:rPr>
              <a:t>PROBLEM → SOLUTION
• Links textual records with cadastral/GIS data
• Compares uploaded documents with authorized records
• Flags owner, survey, area, boundary, location and land-use mismatches
• Confidence score + human review for low-confidence cases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6958584" y="2852928"/>
            <a:ext cx="3154680" cy="2542032"/>
          </a:xfrm>
          <a:prstGeom prst="roundRect">
            <a:avLst/>
          </a:prstGeom>
          <a:solidFill>
            <a:srgbClr val="F1F6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180" b="1">
                <a:solidFill>
                  <a:srgbClr val="233038"/>
                </a:solidFill>
                <a:latin typeface="Arial"/>
              </a:rPr>
              <a:t>WHAT MAKES IT UNIQUE
• Document intelligence + blueprint intelligence + validation in one layer
• ULPIN/parcel identity is separate from citizen authentication
• Provenance, version history, hashes and audit trail
• State-specific adapters for different land-record schemas
• AI is advisory; legal title remains with competent authority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502920" y="5559552"/>
            <a:ext cx="1623060" cy="566928"/>
          </a:xfrm>
          <a:prstGeom prst="roundRect">
            <a:avLst/>
          </a:prstGeom>
          <a:solidFill>
            <a:srgbClr val="F1F6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20" b="1">
                <a:solidFill>
                  <a:srgbClr val="233038"/>
                </a:solidFill>
                <a:latin typeface="Arial"/>
              </a:rPr>
              <a:t>SCAN / UPLOAD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2125980" y="5650992"/>
            <a:ext cx="731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7528B"/>
                </a:solidFill>
                <a:latin typeface="Arial"/>
              </a:rPr>
              <a:t>→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2199132" y="5559552"/>
            <a:ext cx="1623060" cy="566928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20" b="1">
                <a:solidFill>
                  <a:srgbClr val="233038"/>
                </a:solidFill>
                <a:latin typeface="Arial"/>
              </a:rPr>
              <a:t>UNDERSTAND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3822192" y="5650992"/>
            <a:ext cx="731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7528B"/>
                </a:solidFill>
                <a:latin typeface="Arial"/>
              </a:rPr>
              <a:t>→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3895344" y="5559552"/>
            <a:ext cx="1623060" cy="566928"/>
          </a:xfrm>
          <a:prstGeom prst="roundRect">
            <a:avLst/>
          </a:prstGeom>
          <a:solidFill>
            <a:srgbClr val="F1F6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20" b="1">
                <a:solidFill>
                  <a:srgbClr val="233038"/>
                </a:solidFill>
                <a:latin typeface="Arial"/>
              </a:rPr>
              <a:t>MAP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5518404" y="5650992"/>
            <a:ext cx="731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7528B"/>
                </a:solidFill>
                <a:latin typeface="Arial"/>
              </a:rPr>
              <a:t>→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5591556" y="5559552"/>
            <a:ext cx="1623060" cy="566928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20" b="1">
                <a:solidFill>
                  <a:srgbClr val="233038"/>
                </a:solidFill>
                <a:latin typeface="Arial"/>
              </a:rPr>
              <a:t>LINK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7214616" y="5650992"/>
            <a:ext cx="731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7528B"/>
                </a:solidFill>
                <a:latin typeface="Arial"/>
              </a:rPr>
              <a:t>→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7287768" y="5559552"/>
            <a:ext cx="1623060" cy="566928"/>
          </a:xfrm>
          <a:prstGeom prst="roundRect">
            <a:avLst/>
          </a:prstGeom>
          <a:solidFill>
            <a:srgbClr val="F1F6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20" b="1">
                <a:solidFill>
                  <a:srgbClr val="233038"/>
                </a:solidFill>
                <a:latin typeface="Arial"/>
              </a:rPr>
              <a:t>VALIDATE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8910828" y="5650992"/>
            <a:ext cx="731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7528B"/>
                </a:solidFill>
                <a:latin typeface="Arial"/>
              </a:rPr>
              <a:t>→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8983980" y="5559552"/>
            <a:ext cx="1623060" cy="566928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20" b="1">
                <a:solidFill>
                  <a:srgbClr val="233038"/>
                </a:solidFill>
                <a:latin typeface="Arial"/>
              </a:rPr>
              <a:t>VERIFY / FLAG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548640" y="6144768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7528B"/>
                </a:solidFill>
                <a:latin typeface="Arial"/>
              </a:rPr>
              <a:t>Core output: Digital Land Profile • GIS parcel view • Validation / Discrepancy Report • Controlled citizen &amp; officer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993392"/>
            <a:ext cx="10058400" cy="475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00"/>
              </a:spcAft>
              <a:buFont typeface="Arial" panose="020B0604020202020204" pitchFamily="34" charset="0"/>
              <a:buChar char="•"/>
              <a:defRPr sz="1150" b="1">
                <a:solidFill>
                  <a:srgbClr val="27528B"/>
                </a:solidFill>
                <a:latin typeface="Arial"/>
              </a:defRPr>
            </a:pPr>
            <a:r>
              <a:t>Technologies to be used (e.g. programming languages, frameworks, hardware)</a:t>
            </a:r>
          </a:p>
          <a:p>
            <a:pPr>
              <a:spcAft>
                <a:spcPts val="100"/>
              </a:spcAft>
              <a:defRPr sz="1050" b="0">
                <a:solidFill>
                  <a:srgbClr val="233038"/>
                </a:solidFill>
                <a:latin typeface="Arial"/>
              </a:defRPr>
            </a:pPr>
            <a: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/>
              <a:t>Void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02920" y="2542032"/>
            <a:ext cx="4754880" cy="1737360"/>
          </a:xfrm>
          <a:prstGeom prst="roundRect">
            <a:avLst/>
          </a:prstGeom>
          <a:solidFill>
            <a:srgbClr val="F1F6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130" b="1">
                <a:solidFill>
                  <a:srgbClr val="233038"/>
                </a:solidFill>
                <a:latin typeface="Arial"/>
              </a:rPr>
              <a:t>SOFTWARE STACK
Frontend: React / Next.js + Tailwind
Backend: Python + FastAPI
Data: PostgreSQL + PostGIS + GeoJSON
AI/CV: PaddleOCR / Tesseract, OpenCV, NLP/NER, Document AI
GIS: PostGIS + Web-GIS + authorized map layers
Storage: Secure object storage + metadata / hashes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22392" y="2542032"/>
            <a:ext cx="47548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130" b="1">
                <a:solidFill>
                  <a:srgbClr val="233038"/>
                </a:solidFill>
                <a:latin typeface="Arial"/>
              </a:rPr>
              <a:t>SECURITY + IDENTITY
RBAC • encryption • secure APIs • audit logs • consent management
Aadhaar: only through authorized, consent-based authentication/linkage where supported
Land identity: ULPIN / parcel ID / survey or plot number
AI output never independently establishes legal title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02920" y="4407408"/>
            <a:ext cx="1199007" cy="512064"/>
          </a:xfrm>
          <a:prstGeom prst="roundRect">
            <a:avLst/>
          </a:prstGeom>
          <a:solidFill>
            <a:srgbClr val="F1F6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900" b="1">
                <a:solidFill>
                  <a:srgbClr val="233038"/>
                </a:solidFill>
                <a:latin typeface="Arial"/>
              </a:rPr>
              <a:t>UPLOAD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701927" y="4498848"/>
            <a:ext cx="7315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7528B"/>
                </a:solidFill>
                <a:latin typeface="Arial"/>
              </a:rPr>
              <a:t>→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1775079" y="4407408"/>
            <a:ext cx="1199007" cy="512064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900" b="1">
                <a:solidFill>
                  <a:srgbClr val="233038"/>
                </a:solidFill>
                <a:latin typeface="Arial"/>
              </a:rPr>
              <a:t>PREPROCESS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2974086" y="4498848"/>
            <a:ext cx="7315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7528B"/>
                </a:solidFill>
                <a:latin typeface="Arial"/>
              </a:rPr>
              <a:t>→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047238" y="4407408"/>
            <a:ext cx="1199007" cy="512064"/>
          </a:xfrm>
          <a:prstGeom prst="roundRect">
            <a:avLst/>
          </a:prstGeom>
          <a:solidFill>
            <a:srgbClr val="F1F6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900" b="1">
                <a:solidFill>
                  <a:srgbClr val="233038"/>
                </a:solidFill>
                <a:latin typeface="Arial"/>
              </a:rPr>
              <a:t>OCR / NLP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246245" y="4498848"/>
            <a:ext cx="7315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7528B"/>
                </a:solidFill>
                <a:latin typeface="Arial"/>
              </a:rPr>
              <a:t>→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319397" y="4407408"/>
            <a:ext cx="1199007" cy="512064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900" b="1">
                <a:solidFill>
                  <a:srgbClr val="233038"/>
                </a:solidFill>
                <a:latin typeface="Arial"/>
              </a:rPr>
              <a:t>BLUEPRINT CV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5518404" y="4498848"/>
            <a:ext cx="7315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7528B"/>
                </a:solidFill>
                <a:latin typeface="Arial"/>
              </a:rPr>
              <a:t>→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591556" y="4407408"/>
            <a:ext cx="1199007" cy="512064"/>
          </a:xfrm>
          <a:prstGeom prst="roundRect">
            <a:avLst/>
          </a:prstGeom>
          <a:solidFill>
            <a:srgbClr val="F1F6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900" b="1">
                <a:solidFill>
                  <a:srgbClr val="233038"/>
                </a:solidFill>
                <a:latin typeface="Arial"/>
              </a:rPr>
              <a:t>STRUCTURE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790563" y="4498848"/>
            <a:ext cx="7315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7528B"/>
                </a:solidFill>
                <a:latin typeface="Arial"/>
              </a:rPr>
              <a:t>→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863715" y="4407408"/>
            <a:ext cx="1199007" cy="512064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900" b="1">
                <a:solidFill>
                  <a:srgbClr val="233038"/>
                </a:solidFill>
                <a:latin typeface="Arial"/>
              </a:rPr>
              <a:t>AUTHORITATIVE DATA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062722" y="4498848"/>
            <a:ext cx="7315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7528B"/>
                </a:solidFill>
                <a:latin typeface="Arial"/>
              </a:rPr>
              <a:t>→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8135874" y="4407408"/>
            <a:ext cx="1199007" cy="512064"/>
          </a:xfrm>
          <a:prstGeom prst="roundRect">
            <a:avLst/>
          </a:prstGeom>
          <a:solidFill>
            <a:srgbClr val="F1F6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900" b="1">
                <a:solidFill>
                  <a:srgbClr val="233038"/>
                </a:solidFill>
                <a:latin typeface="Arial"/>
              </a:rPr>
              <a:t>VALIDATE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334881" y="4498848"/>
            <a:ext cx="7315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7528B"/>
                </a:solidFill>
                <a:latin typeface="Arial"/>
              </a:rPr>
              <a:t>→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9408033" y="4407408"/>
            <a:ext cx="1199007" cy="512064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900" b="1">
                <a:solidFill>
                  <a:srgbClr val="233038"/>
                </a:solidFill>
                <a:latin typeface="Arial"/>
              </a:rPr>
              <a:t>PROFILE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502920" y="5138928"/>
            <a:ext cx="320040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233038"/>
                </a:solidFill>
                <a:latin typeface="Arial"/>
              </a:rPr>
              <a:t>1. Extract
Text + fields + geometry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3822191" y="5138928"/>
            <a:ext cx="320040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233038"/>
                </a:solidFill>
                <a:latin typeface="Arial"/>
              </a:rPr>
              <a:t>2. Compare
RoR + cadastral + registration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7141464" y="5138928"/>
            <a:ext cx="3465576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233038"/>
                </a:solidFill>
                <a:latin typeface="Arial"/>
              </a:rPr>
              <a:t>3. Decide next step
Verified / Review / Mismatch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548640" y="5971032"/>
            <a:ext cx="9875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F6970"/>
                </a:solidFill>
                <a:latin typeface="Arial"/>
              </a:rPr>
              <a:t>Prototype: synthetic / authorized sample records • Production: secure APIs/connectors subject to State/UT authorization and data-sharing agreements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993392"/>
            <a:ext cx="10058400" cy="566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 sz="1150" b="1">
                <a:solidFill>
                  <a:srgbClr val="27528B"/>
                </a:solidFill>
                <a:latin typeface="Arial"/>
              </a:defRPr>
            </a:pPr>
            <a: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100"/>
              </a:spcAft>
              <a:defRPr sz="1050" b="0">
                <a:solidFill>
                  <a:srgbClr val="233038"/>
                </a:solidFill>
                <a:latin typeface="Arial"/>
              </a:defRPr>
            </a:pPr>
            <a:r>
              <a:t>Potential challenges and risks</a:t>
            </a:r>
          </a:p>
          <a:p>
            <a:pPr>
              <a:spcAft>
                <a:spcPts val="100"/>
              </a:spcAft>
              <a:defRPr sz="1050" b="0">
                <a:solidFill>
                  <a:srgbClr val="233038"/>
                </a:solidFill>
                <a:latin typeface="Arial"/>
              </a:defRPr>
            </a:pPr>
            <a:r>
              <a:t>Strategies for overcoming these challenges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Void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02920" y="2606040"/>
            <a:ext cx="3182112" cy="2331720"/>
          </a:xfrm>
          <a:prstGeom prst="roundRect">
            <a:avLst/>
          </a:prstGeom>
          <a:solidFill>
            <a:srgbClr val="F1F6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150" b="1">
                <a:solidFill>
                  <a:srgbClr val="233038"/>
                </a:solidFill>
                <a:latin typeface="Arial"/>
              </a:rPr>
              <a:t>FEASIBLE FOUNDATION
• India already has DILRMP, ULPIN/Bhu-Aadhaar, registration digitization, cadastral/GIS initiatives and e-Court linkage
• DILRMP 3.0 (2026–2031) is current
• Our platform is an AI validation/interoperability layer, not a replacement database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803904" y="2606040"/>
            <a:ext cx="3182112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150" b="1">
                <a:solidFill>
                  <a:srgbClr val="233038"/>
                </a:solidFill>
                <a:latin typeface="Arial"/>
              </a:rPr>
              <a:t>KEY RISKS
• State-wise formats and terminology
• OCR errors in old/handwritten documents
• Boundary/area discrepancies
• Privacy and Aadhaar misuse risk
• Data access/API availability
• False positives from AI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7104888" y="2606040"/>
            <a:ext cx="3182112" cy="2331720"/>
          </a:xfrm>
          <a:prstGeom prst="roundRect">
            <a:avLst/>
          </a:prstGeom>
          <a:solidFill>
            <a:srgbClr val="F1F6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150" b="1">
                <a:solidFill>
                  <a:srgbClr val="233038"/>
                </a:solidFill>
                <a:latin typeface="Arial"/>
              </a:rPr>
              <a:t>MITIGATION
• State-specific adapter/API layer
• Confidence scoring + human-in-the-loop
• Authoritative-source hierarchy
• Minimal Aadhaar handling + consent + RBAC
• Provenance, hashing, audit/version history
• Synthetic/authorized prototype data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02920" y="4956048"/>
            <a:ext cx="2267712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60" b="1">
                <a:solidFill>
                  <a:srgbClr val="233038"/>
                </a:solidFill>
                <a:latin typeface="Arial"/>
              </a:rPr>
              <a:t>95.09%
RoR computerization*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871216" y="4956048"/>
            <a:ext cx="2267712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60" b="1">
                <a:solidFill>
                  <a:srgbClr val="233038"/>
                </a:solidFill>
                <a:latin typeface="Arial"/>
              </a:rPr>
              <a:t>&gt;68%
Cadastral maps digitized*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239512" y="4956048"/>
            <a:ext cx="2267712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60" b="1">
                <a:solidFill>
                  <a:srgbClr val="233038"/>
                </a:solidFill>
                <a:latin typeface="Arial"/>
              </a:rPr>
              <a:t>&gt;93%
Registration computerized*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7607808" y="4956048"/>
            <a:ext cx="2679192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60" b="1">
                <a:solidFill>
                  <a:srgbClr val="233038"/>
                </a:solidFill>
                <a:latin typeface="Arial"/>
              </a:rPr>
              <a:t>49.10%
Cadastral maps geo-referenced*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993392"/>
            <a:ext cx="10058400" cy="443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 sz="1150" b="1">
                <a:solidFill>
                  <a:srgbClr val="27528B"/>
                </a:solidFill>
                <a:latin typeface="Arial"/>
              </a:defRPr>
            </a:pPr>
            <a:r>
              <a:rPr dirty="0"/>
              <a:t>Potential impact on the target audience</a:t>
            </a:r>
          </a:p>
          <a:p>
            <a:pPr>
              <a:spcAft>
                <a:spcPts val="100"/>
              </a:spcAft>
              <a:defRPr sz="1050" b="0">
                <a:solidFill>
                  <a:srgbClr val="233038"/>
                </a:solidFill>
                <a:latin typeface="Arial"/>
              </a:defRPr>
            </a:pPr>
            <a:r>
              <a:rPr dirty="0"/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Void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02920" y="2578608"/>
            <a:ext cx="3182112" cy="2514600"/>
          </a:xfrm>
          <a:prstGeom prst="roundRect">
            <a:avLst/>
          </a:prstGeom>
          <a:solidFill>
            <a:srgbClr val="F1F6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150" b="1">
                <a:solidFill>
                  <a:srgbClr val="233038"/>
                </a:solidFill>
                <a:latin typeface="Arial"/>
              </a:rPr>
              <a:t>CITIZENS / LANDOWNERS
• Digital vault for lost/damaged physical records
• View owner/co-owner, parcel/ULPIN, survey no., area, location, blueprint
• Track verification status and record history
• Fewer office visits and faster document retrieval
• Controlled QR/public verification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803904" y="2578608"/>
            <a:ext cx="3182112" cy="2514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150" b="1">
                <a:solidFill>
                  <a:srgbClr val="233038"/>
                </a:solidFill>
                <a:latin typeface="Arial"/>
              </a:rPr>
              <a:t>REVENUE / REGISTRATION OFFICERS
• Faster document extraction and comparison
• Side-by-side text + map validation
• Discrepancy and anomaly alerts
• Human review queue for low-confidence cases
• Complete provenance and audit trail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7104888" y="2578608"/>
            <a:ext cx="3182112" cy="2514600"/>
          </a:xfrm>
          <a:prstGeom prst="roundRect">
            <a:avLst/>
          </a:prstGeom>
          <a:solidFill>
            <a:srgbClr val="F1F6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150" b="1">
                <a:solidFill>
                  <a:srgbClr val="233038"/>
                </a:solidFill>
                <a:latin typeface="Arial"/>
              </a:rPr>
              <a:t>GOVERNMENT + ECOSYSTEM
• Better data quality and interoperability
• Supports planning, transparency and dispute reduction
• Future integrations: property tax, courts, banking/transaction due diligence, valuation assistance
• Less paper + travel → environmental benefit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914400" y="5285232"/>
            <a:ext cx="1770278" cy="566928"/>
          </a:xfrm>
          <a:prstGeom prst="roundRect">
            <a:avLst/>
          </a:prstGeom>
          <a:solidFill>
            <a:srgbClr val="F1F6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20" b="1">
                <a:solidFill>
                  <a:srgbClr val="233038"/>
                </a:solidFill>
                <a:latin typeface="Arial"/>
              </a:rPr>
              <a:t>DIGITIZE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684678" y="5376672"/>
            <a:ext cx="731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7528B"/>
                </a:solidFill>
                <a:latin typeface="Arial"/>
              </a:rPr>
              <a:t>→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757830" y="5285232"/>
            <a:ext cx="1770278" cy="566928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20" b="1">
                <a:solidFill>
                  <a:srgbClr val="233038"/>
                </a:solidFill>
                <a:latin typeface="Arial"/>
              </a:rPr>
              <a:t>UNDERSTAND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528108" y="5376672"/>
            <a:ext cx="731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7528B"/>
                </a:solidFill>
                <a:latin typeface="Arial"/>
              </a:rPr>
              <a:t>→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601260" y="5285232"/>
            <a:ext cx="1770278" cy="566928"/>
          </a:xfrm>
          <a:prstGeom prst="roundRect">
            <a:avLst/>
          </a:prstGeom>
          <a:solidFill>
            <a:srgbClr val="F1F6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20" b="1">
                <a:solidFill>
                  <a:srgbClr val="233038"/>
                </a:solidFill>
                <a:latin typeface="Arial"/>
              </a:rPr>
              <a:t>VALIDATE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371539" y="5376672"/>
            <a:ext cx="731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7528B"/>
                </a:solidFill>
                <a:latin typeface="Arial"/>
              </a:rPr>
              <a:t>→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444691" y="5285232"/>
            <a:ext cx="1770278" cy="566928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20" b="1">
                <a:solidFill>
                  <a:srgbClr val="233038"/>
                </a:solidFill>
                <a:latin typeface="Arial"/>
              </a:rPr>
              <a:t>TRUST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214969" y="5376672"/>
            <a:ext cx="731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7528B"/>
                </a:solidFill>
                <a:latin typeface="Arial"/>
              </a:rPr>
              <a:t>→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8288121" y="5285232"/>
            <a:ext cx="1770278" cy="566928"/>
          </a:xfrm>
          <a:prstGeom prst="roundRect">
            <a:avLst/>
          </a:prstGeom>
          <a:solidFill>
            <a:srgbClr val="F1F6FA"/>
          </a:solidFill>
          <a:ln w="15240">
            <a:solidFill>
              <a:srgbClr val="27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20" b="1">
                <a:solidFill>
                  <a:srgbClr val="233038"/>
                </a:solidFill>
                <a:latin typeface="Arial"/>
              </a:rPr>
              <a:t>ACCESS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548640" y="5925312"/>
            <a:ext cx="9875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1">
                <a:solidFill>
                  <a:srgbClr val="27528B"/>
                </a:solidFill>
                <a:latin typeface="Arial"/>
              </a:rPr>
              <a:t>Trust principle: authoritative government records remain the source of truth; AI extracts, compares, explains and flags — it does not independently confer ownership.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83042" y="1650924"/>
            <a:ext cx="1009815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</a:t>
            </a:r>
          </a:p>
          <a:p>
            <a:pPr algn="ctr"/>
            <a:r>
              <a:rPr lang="en-US" dirty="0"/>
              <a:t>Void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94360" y="2084831"/>
            <a:ext cx="480060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233038"/>
                </a:solidFill>
                <a:latin typeface="Arial"/>
              </a:defRPr>
            </a:pPr>
            <a:r>
              <a:rPr dirty="0"/>
              <a:t>OFFICIAL GOVERNMENT SOURCES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33038"/>
                </a:solidFill>
                <a:latin typeface="Arial"/>
              </a:defRPr>
            </a:pPr>
            <a:endParaRPr dirty="0"/>
          </a:p>
          <a:p>
            <a:pPr algn="l">
              <a:spcAft>
                <a:spcPts val="300"/>
              </a:spcAft>
              <a:defRPr sz="1000" b="0">
                <a:solidFill>
                  <a:srgbClr val="233038"/>
                </a:solidFill>
                <a:latin typeface="Arial"/>
              </a:defRPr>
            </a:pPr>
            <a:r>
              <a:rPr dirty="0"/>
              <a:t>1. DILRMP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33038"/>
                </a:solidFill>
                <a:latin typeface="Arial"/>
              </a:defRPr>
            </a:pPr>
            <a:r>
              <a:rPr dirty="0"/>
              <a:t>https://dolr.gov.in/en/programmes-schemes/dilrmp-2/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33038"/>
                </a:solidFill>
                <a:latin typeface="Arial"/>
              </a:defRPr>
            </a:pPr>
            <a:endParaRPr dirty="0"/>
          </a:p>
          <a:p>
            <a:pPr algn="l">
              <a:spcAft>
                <a:spcPts val="300"/>
              </a:spcAft>
              <a:defRPr sz="1000" b="0">
                <a:solidFill>
                  <a:srgbClr val="233038"/>
                </a:solidFill>
                <a:latin typeface="Arial"/>
              </a:defRPr>
            </a:pPr>
            <a:r>
              <a:rPr dirty="0"/>
              <a:t>2. DILRMP 3.0 Operational Guidelines (2026–2031)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33038"/>
                </a:solidFill>
                <a:latin typeface="Arial"/>
              </a:defRPr>
            </a:pPr>
            <a:r>
              <a:rPr dirty="0"/>
              <a:t>https://dolr.gov.in/en/document/digital-india-land-records-modernization-programmedilrmp-3-0-operational-guidelines-2026-2031/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33038"/>
                </a:solidFill>
                <a:latin typeface="Arial"/>
              </a:defRPr>
            </a:pPr>
            <a:endParaRPr dirty="0"/>
          </a:p>
          <a:p>
            <a:pPr algn="l">
              <a:spcAft>
                <a:spcPts val="300"/>
              </a:spcAft>
              <a:defRPr sz="1000" b="0">
                <a:solidFill>
                  <a:srgbClr val="233038"/>
                </a:solidFill>
                <a:latin typeface="Arial"/>
              </a:defRPr>
            </a:pPr>
            <a:r>
              <a:rPr dirty="0"/>
              <a:t>3. ULPIN / Bhu-Aadhaar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33038"/>
                </a:solidFill>
                <a:latin typeface="Arial"/>
              </a:defRPr>
            </a:pPr>
            <a:r>
              <a:rPr dirty="0"/>
              <a:t>https://dolr.gov.in/en/national-digital-policy-release/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532120" y="2084831"/>
            <a:ext cx="457200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33038"/>
                </a:solidFill>
                <a:latin typeface="Arial"/>
              </a:defRPr>
            </a:pPr>
            <a:r>
              <a:t>4. NAKSHA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33038"/>
                </a:solidFill>
                <a:latin typeface="Arial"/>
              </a:defRPr>
            </a:pPr>
            <a:r>
              <a:t>https://dolr.gov.in/en/about-naksha/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33038"/>
                </a:solidFill>
                <a:latin typeface="Arial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233038"/>
                </a:solidFill>
                <a:latin typeface="Arial"/>
              </a:defRPr>
            </a:pPr>
            <a:r>
              <a:t>5. e-Court + Land Records / Registration linkage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33038"/>
                </a:solidFill>
                <a:latin typeface="Arial"/>
              </a:defRPr>
            </a:pPr>
            <a:r>
              <a:t>https://dolr.gov.in/en/linkage-of-e-court-with-land-records-registration-data-base/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33038"/>
                </a:solidFill>
                <a:latin typeface="Arial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233038"/>
                </a:solidFill>
                <a:latin typeface="Arial"/>
              </a:defRPr>
            </a:pPr>
            <a:r>
              <a:t>6. SVAMITVA Scheme — Ministry of Panchayati Raj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33038"/>
                </a:solidFill>
                <a:latin typeface="Arial"/>
              </a:defRPr>
            </a:pPr>
            <a:r>
              <a:t>https://svamitva.nic.in/svamitva_hindi/index.html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33038"/>
                </a:solidFill>
                <a:latin typeface="Arial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233038"/>
                </a:solidFill>
                <a:latin typeface="Arial"/>
              </a:defRPr>
            </a:pPr>
            <a:r>
              <a:t>Technical references: PostgreSQL/PostGIS, FastAPI, React/Next.js, OpenCV, OCR/document-AI, GeoJSON/Web-GIS.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33038"/>
                </a:solidFill>
                <a:latin typeface="Arial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233038"/>
                </a:solidFill>
                <a:latin typeface="Arial"/>
              </a:defRPr>
            </a:pPr>
            <a:r>
              <a:t>Prototype: synthetic/authorized records; production integrations require competent-authority approval, security controls and applicable privacy/data-governance requirements.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94360" y="5715000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7528B"/>
                </a:solidFill>
                <a:latin typeface="Arial"/>
              </a:rPr>
              <a:t>Research basis: official Government of India sources + current DILRMP 3.0 programme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7499</TotalTime>
  <Words>1144</Words>
  <Application>Microsoft Office PowerPoint</Application>
  <PresentationFormat>Widescreen</PresentationFormat>
  <Paragraphs>133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sajid M S</cp:lastModifiedBy>
  <cp:revision>149</cp:revision>
  <dcterms:created xsi:type="dcterms:W3CDTF">2013-12-12T18:46:50Z</dcterms:created>
  <dcterms:modified xsi:type="dcterms:W3CDTF">2026-09-08T17:10:17Z</dcterms:modified>
  <cp:category/>
</cp:coreProperties>
</file>